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Milestone 1: foundation. We chose Architecture A (Distributed Ticket Booking) and instantiated it as a vaccine-slot booking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Maps one-to-one to the Milestone 1 objectives and deliverables in the assignment PDF.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LLM runs on a separate server as the assignment requires. The app server never loads the model; it calls LLMService over gRPC.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Function signatures follow the assignment; minor changes are allowed. Note: authentication is a stub in M1 (any non-empty password is accepted); real credential checks are future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of scripts/demo_concurrency.py: 10 threads, slot with 3 available. Result: 3 accepted, 7 rejected, remaining 0, finished in about 12 ms on our machine.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queries come from scripts/client_demo.py. Answers are excerpts of real Qwen2.5-0.5B output from our live run (about 12 s per answer on a MacBook CPU). A 0.5B model sometimes drifts from the system-prompt rules, e.g. it invented a medical-certificate requirement; larger or fine-tuned models are future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 from our own machine on 29 Sep 2026. LLM answers took roughly 12 seconds each on CPU; the booking race finished in 12 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Tests: 13 unit tests pass without a server; 2 integration tests pass against live servers. Known M1 gaps: mock authentication, in-memory state, single app server.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G623 · ADVANCED OPERATING SYSTEMS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Distributed Ticket Booking System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 · Project Foundation, gRPC &amp; LLM Integration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319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Vaccine-slot booking on Architecture 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AOS · BITS Pilani · Semester I 2026–27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909560" y="1508760"/>
            <a:ext cx="-731520" cy="1645920"/>
          </a:xfrm>
          <a:prstGeom prst="line">
            <a:avLst/>
          </a:prstGeom>
          <a:noFill/>
          <a:ln w="25400">
            <a:solidFill>
              <a:srgbClr val="12808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78040" y="3154680"/>
            <a:ext cx="1097280" cy="822960"/>
          </a:xfrm>
          <a:prstGeom prst="line">
            <a:avLst/>
          </a:prstGeom>
          <a:noFill/>
          <a:ln w="25400">
            <a:solidFill>
              <a:srgbClr val="1280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78040" y="3154680"/>
            <a:ext cx="1097280" cy="411480"/>
          </a:xfrm>
          <a:prstGeom prst="line">
            <a:avLst/>
          </a:prstGeom>
          <a:noFill/>
          <a:ln w="25400">
            <a:solidFill>
              <a:srgbClr val="12808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0" y="1097280"/>
            <a:ext cx="822960" cy="822960"/>
          </a:xfrm>
          <a:prstGeom prst="ellipse">
            <a:avLst/>
          </a:prstGeom>
          <a:solidFill>
            <a:srgbClr val="12808A"/>
          </a:solidFill>
          <a:ln w="25400">
            <a:solidFill>
              <a:srgbClr val="F2A54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0" y="1965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766560" y="2743200"/>
            <a:ext cx="822960" cy="822960"/>
          </a:xfrm>
          <a:prstGeom prst="ellipse">
            <a:avLst/>
          </a:prstGeom>
          <a:solidFill>
            <a:srgbClr val="12808A"/>
          </a:solidFill>
          <a:ln w="25400">
            <a:solidFill>
              <a:srgbClr val="F2A54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83680" y="3611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Server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863840" y="3566160"/>
            <a:ext cx="822960" cy="822960"/>
          </a:xfrm>
          <a:prstGeom prst="ellipse">
            <a:avLst/>
          </a:prstGeom>
          <a:solidFill>
            <a:srgbClr val="12808A"/>
          </a:solidFill>
          <a:ln w="25400">
            <a:solidFill>
              <a:srgbClr val="F2A54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80960" y="44348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Server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Milestone 1 delivers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21792" y="1261872"/>
            <a:ext cx="384048" cy="384048"/>
          </a:xfrm>
          <a:prstGeom prst="ellipse">
            <a:avLst/>
          </a:prstGeom>
          <a:solidFill>
            <a:srgbClr val="12808A"/>
          </a:solidFill>
          <a:ln w="12700">
            <a:solidFill>
              <a:srgbClr val="1280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261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143000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topic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114800" y="1143000"/>
            <a:ext cx="4389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A: Distributed Ticket Booking, instantiated as vaccine-slot booking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" y="1993392"/>
            <a:ext cx="384048" cy="384048"/>
          </a:xfrm>
          <a:prstGeom prst="ellipse">
            <a:avLst/>
          </a:prstGeom>
          <a:solidFill>
            <a:srgbClr val="12808A"/>
          </a:solidFill>
          <a:ln w="12700">
            <a:solidFill>
              <a:srgbClr val="12808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1874520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gRPC service definitions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114800" y="1874520"/>
            <a:ext cx="4389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.proto file: 3 services, 7 RPCs, generated Python stubs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" y="2724912"/>
            <a:ext cx="384048" cy="384048"/>
          </a:xfrm>
          <a:prstGeom prst="ellipse">
            <a:avLst/>
          </a:prstGeom>
          <a:solidFill>
            <a:srgbClr val="12808A"/>
          </a:solidFill>
          <a:ln w="12700">
            <a:solidFill>
              <a:srgbClr val="12808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" y="2724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2606040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Client–server communication &amp; auth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114800" y="2606040"/>
            <a:ext cx="4389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→ token → post / get → logout, all over gRPC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337560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" y="3456432"/>
            <a:ext cx="384048" cy="384048"/>
          </a:xfrm>
          <a:prstGeom prst="ellipse">
            <a:avLst/>
          </a:prstGeom>
          <a:solidFill>
            <a:srgbClr val="12808A"/>
          </a:solidFill>
          <a:ln w="12700">
            <a:solidFill>
              <a:srgbClr val="12808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1792" y="3456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3337560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 business logic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114800" y="3337560"/>
            <a:ext cx="4389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inventory, mock payment, cancellation, per-slot locking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069080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1792" y="4187952"/>
            <a:ext cx="384048" cy="384048"/>
          </a:xfrm>
          <a:prstGeom prst="ellipse">
            <a:avLst/>
          </a:prstGeom>
          <a:solidFill>
            <a:srgbClr val="12808A"/>
          </a:solidFill>
          <a:ln w="12700">
            <a:solidFill>
              <a:srgbClr val="12808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1792" y="4187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188720" y="4069080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LLM on its own node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114800" y="4069080"/>
            <a:ext cx="4389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Qwen2.5-0.5B FAQ assistant, CPU-only, offline-first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737360" cy="26517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94360" y="129844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28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53619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96596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concurrent gRPC clients simulating citizens booking slots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188720"/>
            <a:ext cx="2743200" cy="2651760"/>
          </a:xfrm>
          <a:prstGeom prst="roundRect">
            <a:avLst>
              <a:gd name="adj" fmla="val 2759"/>
            </a:avLst>
          </a:prstGeom>
          <a:solidFill>
            <a:srgbClr val="0E2A36"/>
          </a:solidFill>
          <a:ln w="12700">
            <a:solidFill>
              <a:srgbClr val="0E2A3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74720" y="129844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2 · :50051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15361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Server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474720" y="1965960"/>
            <a:ext cx="2377440" cy="283464"/>
          </a:xfrm>
          <a:prstGeom prst="roundRect">
            <a:avLst>
              <a:gd name="adj" fmla="val 25806"/>
            </a:avLst>
          </a:prstGeom>
          <a:solidFill>
            <a:srgbClr val="173F4E"/>
          </a:solidFill>
          <a:ln w="12700">
            <a:solidFill>
              <a:srgbClr val="173F4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11880" y="196596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store (tokens)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0" y="2304288"/>
            <a:ext cx="2377440" cy="283464"/>
          </a:xfrm>
          <a:prstGeom prst="roundRect">
            <a:avLst>
              <a:gd name="adj" fmla="val 25806"/>
            </a:avLst>
          </a:prstGeom>
          <a:solidFill>
            <a:srgbClr val="173F4E"/>
          </a:solidFill>
          <a:ln w="12700">
            <a:solidFill>
              <a:srgbClr val="173F4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11880" y="230428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service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74720" y="2642616"/>
            <a:ext cx="2377440" cy="283464"/>
          </a:xfrm>
          <a:prstGeom prst="roundRect">
            <a:avLst>
              <a:gd name="adj" fmla="val 25806"/>
            </a:avLst>
          </a:prstGeom>
          <a:solidFill>
            <a:srgbClr val="173F4E"/>
          </a:solidFill>
          <a:ln w="12700">
            <a:solidFill>
              <a:srgbClr val="173F4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611880" y="264261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Per-slot locks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0" y="2980944"/>
            <a:ext cx="2377440" cy="283464"/>
          </a:xfrm>
          <a:prstGeom prst="roundRect">
            <a:avLst>
              <a:gd name="adj" fmla="val 25806"/>
            </a:avLst>
          </a:prstGeom>
          <a:solidFill>
            <a:srgbClr val="173F4E"/>
          </a:solidFill>
          <a:ln w="12700">
            <a:solidFill>
              <a:srgbClr val="173F4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611880" y="2980944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Dispatcher + LockManager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474720" y="3319272"/>
            <a:ext cx="2377440" cy="283464"/>
          </a:xfrm>
          <a:prstGeom prst="roundRect">
            <a:avLst>
              <a:gd name="adj" fmla="val 25806"/>
            </a:avLst>
          </a:prstGeom>
          <a:solidFill>
            <a:srgbClr val="173F4E"/>
          </a:solidFill>
          <a:ln w="12700">
            <a:solidFill>
              <a:srgbClr val="173F4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611880" y="331927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payment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223760" y="1188720"/>
            <a:ext cx="1463040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360920" y="129844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28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1 · :50052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7360920" y="153619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Server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360920" y="1965960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Qwen2.5-0.5B-Instruct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D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Batched worker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D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· offline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194560" y="2514600"/>
            <a:ext cx="1097280" cy="0"/>
          </a:xfrm>
          <a:prstGeom prst="line">
            <a:avLst/>
          </a:prstGeom>
          <a:noFill/>
          <a:ln w="25400">
            <a:solidFill>
              <a:srgbClr val="12808A"/>
            </a:solidFill>
            <a:prstDash val="solid"/>
            <a:headEnd type="triangle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2194560" y="26517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· logout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D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· get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35040" y="2514600"/>
            <a:ext cx="1188720" cy="0"/>
          </a:xfrm>
          <a:prstGeom prst="line">
            <a:avLst/>
          </a:prstGeom>
          <a:noFill/>
          <a:ln w="25400">
            <a:solidFill>
              <a:srgbClr val="12808A"/>
            </a:solidFill>
            <a:prstDash val="solid"/>
            <a:headEnd type="triangle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6035040" y="26517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getLLMAnswer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D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inter-node calls are gRPC. State is in memory in Milestone 1; replication arrives with Raft in Milestone 2.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gRPC contract &amp; sessions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512064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1600200"/>
                <a:gridCol w="26517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Assignment signature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3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login(username, password)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Logout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logout(token)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post(token, type, data)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get(token, type, params)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ProcessBusinessRequest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processBusinessRequest(id, payload, ctx)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/ LLM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GetLLMAnswer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getLLMAnswer(id, query, ctx)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7490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protobuf messages carry JSON payloads, so new request types need no schema change.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943600" y="1188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28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FLOW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943600" y="1508760"/>
            <a:ext cx="274320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053328" y="1618488"/>
            <a:ext cx="384048" cy="384048"/>
          </a:xfrm>
          <a:prstGeom prst="ellipse">
            <a:avLst/>
          </a:prstGeom>
          <a:solidFill>
            <a:srgbClr val="12808A"/>
          </a:solidFill>
          <a:ln w="12700">
            <a:solidFill>
              <a:srgbClr val="12808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053328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537960" y="1508760"/>
            <a:ext cx="2057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returns a UUID token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943600" y="2221992"/>
            <a:ext cx="274320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053328" y="2331720"/>
            <a:ext cx="384048" cy="384048"/>
          </a:xfrm>
          <a:prstGeom prst="ellipse">
            <a:avLst/>
          </a:prstGeom>
          <a:solidFill>
            <a:srgbClr val="12808A"/>
          </a:solidFill>
          <a:ln w="12700">
            <a:solidFill>
              <a:srgbClr val="12808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053328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537960" y="2221992"/>
            <a:ext cx="2057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stored in the session map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943600" y="2935224"/>
            <a:ext cx="274320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053328" y="3044952"/>
            <a:ext cx="384048" cy="384048"/>
          </a:xfrm>
          <a:prstGeom prst="ellipse">
            <a:avLst/>
          </a:prstGeom>
          <a:solidFill>
            <a:srgbClr val="12808A"/>
          </a:solidFill>
          <a:ln w="12700">
            <a:solidFill>
              <a:srgbClr val="12808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053328" y="3044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6537960" y="2935224"/>
            <a:ext cx="2057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 Get verify the token, else "unauthorized"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943600" y="3648456"/>
            <a:ext cx="274320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053328" y="3758184"/>
            <a:ext cx="384048" cy="384048"/>
          </a:xfrm>
          <a:prstGeom prst="ellipse">
            <a:avLst/>
          </a:prstGeom>
          <a:solidFill>
            <a:srgbClr val="12808A"/>
          </a:solidFill>
          <a:ln w="12700">
            <a:solidFill>
              <a:srgbClr val="12808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053328" y="3758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6537960" y="3648456"/>
            <a:ext cx="2057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 deletes the token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 logic &amp; concurrency control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28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TRANSACTION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402336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30352" y="1545336"/>
            <a:ext cx="310896" cy="310896"/>
          </a:xfrm>
          <a:prstGeom prst="ellipse">
            <a:avLst/>
          </a:prstGeom>
          <a:solidFill>
            <a:srgbClr val="12808A"/>
          </a:solidFill>
          <a:ln w="12700">
            <a:solidFill>
              <a:srgbClr val="1280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30352" y="1545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150876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Enqueue in Dispatcher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402336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30352" y="2002536"/>
            <a:ext cx="310896" cy="310896"/>
          </a:xfrm>
          <a:prstGeom prst="ellipse">
            <a:avLst/>
          </a:prstGeom>
          <a:solidFill>
            <a:srgbClr val="12808A"/>
          </a:solidFill>
          <a:ln w="12700">
            <a:solidFill>
              <a:srgbClr val="12808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0352" y="2002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196596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 the slot’s own lock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423160"/>
            <a:ext cx="402336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30352" y="2459736"/>
            <a:ext cx="310896" cy="310896"/>
          </a:xfrm>
          <a:prstGeom prst="ellipse">
            <a:avLst/>
          </a:prstGeom>
          <a:solidFill>
            <a:srgbClr val="12808A"/>
          </a:solidFill>
          <a:ln w="12700">
            <a:solidFill>
              <a:srgbClr val="12808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30352" y="24597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242316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slot, quantity, availability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402336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30352" y="2916936"/>
            <a:ext cx="310896" cy="310896"/>
          </a:xfrm>
          <a:prstGeom prst="ellipse">
            <a:avLst/>
          </a:prstGeom>
          <a:solidFill>
            <a:srgbClr val="12808A"/>
          </a:solidFill>
          <a:ln w="12700">
            <a:solidFill>
              <a:srgbClr val="12808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30352" y="2916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60120" y="288036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payment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337560"/>
            <a:ext cx="402336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30352" y="3374136"/>
            <a:ext cx="310896" cy="310896"/>
          </a:xfrm>
          <a:prstGeom prst="ellipse">
            <a:avLst/>
          </a:prstGeom>
          <a:solidFill>
            <a:srgbClr val="12808A"/>
          </a:solidFill>
          <a:ln w="12700">
            <a:solidFill>
              <a:srgbClr val="12808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30352" y="33741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60120" y="333756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Decrement + record appointment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794760"/>
            <a:ext cx="402336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30352" y="3831336"/>
            <a:ext cx="310896" cy="310896"/>
          </a:xfrm>
          <a:prstGeom prst="ellipse">
            <a:avLst/>
          </a:prstGeom>
          <a:solidFill>
            <a:srgbClr val="12808A"/>
          </a:solidFill>
          <a:ln w="12700">
            <a:solidFill>
              <a:srgbClr val="12808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30352" y="3831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60120" y="379476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lock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937760" y="1188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28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CLIENTS RACING FOR 3 SLOTS (LIVE gRPC RUN)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937760" y="1508760"/>
            <a:ext cx="1188720" cy="14630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4937760" y="164592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280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800" dirty="0"/>
          </a:p>
        </p:txBody>
      </p:sp>
      <p:sp>
        <p:nvSpPr>
          <p:cNvPr id="31" name="Text 29"/>
          <p:cNvSpPr txBox="1"/>
          <p:nvPr/>
        </p:nvSpPr>
        <p:spPr>
          <a:xfrm>
            <a:off x="4937760" y="24688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17920" y="1508760"/>
            <a:ext cx="1188720" cy="14630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6217920" y="164592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280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800" dirty="0"/>
          </a:p>
        </p:txBody>
      </p:sp>
      <p:sp>
        <p:nvSpPr>
          <p:cNvPr id="34" name="Text 32"/>
          <p:cNvSpPr txBox="1"/>
          <p:nvPr/>
        </p:nvSpPr>
        <p:spPr>
          <a:xfrm>
            <a:off x="6217920" y="24688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498080" y="1508760"/>
            <a:ext cx="1188720" cy="1463040"/>
          </a:xfrm>
          <a:prstGeom prst="roundRect">
            <a:avLst>
              <a:gd name="adj" fmla="val 6154"/>
            </a:avLst>
          </a:prstGeom>
          <a:solidFill>
            <a:srgbClr val="0E2A36"/>
          </a:solidFill>
          <a:ln w="12700">
            <a:solidFill>
              <a:srgbClr val="0E2A3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498080" y="164592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800" dirty="0"/>
          </a:p>
        </p:txBody>
      </p:sp>
      <p:sp>
        <p:nvSpPr>
          <p:cNvPr id="37" name="Text 35"/>
          <p:cNvSpPr txBox="1"/>
          <p:nvPr/>
        </p:nvSpPr>
        <p:spPr>
          <a:xfrm>
            <a:off x="7498080" y="24688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overbooked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4937760" y="320040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lock per slot: users booking different slots run in parallel; only same-slot contenders are serialized. Cancellation restores inventory under the same lock.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LLM integration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2062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2618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8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node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1790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LLMService on :50052, reached from the app server via getLLMAnswer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42062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0080" y="20391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8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Domain-specific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29514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encodes 8 booking rules: dose gaps, ID, cancellation, fees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42062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0080" y="28163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8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07238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slot availability injected when a query is about availability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520440"/>
            <a:ext cx="42062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0080" y="35935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8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&amp; offline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84962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Qwen2.5-0.5B, 60 ms request batching, keyword fallback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0" y="1188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28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QUERIES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760720" y="1508760"/>
            <a:ext cx="2926080" cy="365760"/>
          </a:xfrm>
          <a:prstGeom prst="roundRect">
            <a:avLst>
              <a:gd name="adj" fmla="val 20000"/>
            </a:avLst>
          </a:prstGeom>
          <a:solidFill>
            <a:srgbClr val="12808A"/>
          </a:solidFill>
          <a:ln w="12700">
            <a:solidFill>
              <a:srgbClr val="12808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897880" y="15087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cancel a booking?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0" y="1965960"/>
            <a:ext cx="3108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5166360" y="1965960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cancel your vaccination appointment, please follow these steps: 1. Check Availability … 2. Contact Support … (excerpt)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760720" y="3154680"/>
            <a:ext cx="2926080" cy="365760"/>
          </a:xfrm>
          <a:prstGeom prst="roundRect">
            <a:avLst>
              <a:gd name="adj" fmla="val 20000"/>
            </a:avLst>
          </a:prstGeom>
          <a:solidFill>
            <a:srgbClr val="12808A"/>
          </a:solidFill>
          <a:ln w="12700">
            <a:solidFill>
              <a:srgbClr val="12808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897880" y="3154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documents do I need?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0" y="3611880"/>
            <a:ext cx="3108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5166360" y="3611880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Government-issued Photo ID: this could be an Aadhaar card, Voter ID, Passport, or Driver’s License … (excerpt)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run: 3 nodes, 4 terminals</a:t>
            </a:r>
            <a:endParaRPr lang="en-US" sz="2800" dirty="0"/>
          </a:p>
        </p:txBody>
      </p:sp>
      <p:pic>
        <p:nvPicPr>
          <p:cNvPr id="3" name="Image 0" descr="/mnt/user-data/uploads/1790688904731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5815584" cy="365760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6492240" y="1051560"/>
            <a:ext cx="2194560" cy="850392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6629400" y="112471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8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1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629400" y="13716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D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Qwen2.5-0.5B loaded from local cache, serving on :50052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492240" y="1993392"/>
            <a:ext cx="2194560" cy="850392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629400" y="206654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8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2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629400" y="231343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D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server on :50051, upstream LLM at localhost:50052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492240" y="2935224"/>
            <a:ext cx="2194560" cy="850392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6629400" y="300837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8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demo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629400" y="3255264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D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availability, then 2 FAQs answered by the LLM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492240" y="3877056"/>
            <a:ext cx="2194560" cy="850392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6629400" y="39502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8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test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6629400" y="4197096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D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clients, 3 slots: 3 accepted, 7 rejected, 0 overbooked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2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today, Raft next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173F4E"/>
          </a:solidFill>
          <a:ln w="12700">
            <a:solidFill>
              <a:srgbClr val="173F4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7043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13/13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1874520" y="1170432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passing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46120" y="109728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173F4E"/>
          </a:solidFill>
          <a:ln w="12700">
            <a:solidFill>
              <a:srgbClr val="173F4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29000" y="117043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1170432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gRPC integration tests passing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35040" y="109728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173F4E"/>
          </a:solidFill>
          <a:ln w="12700">
            <a:solidFill>
              <a:srgbClr val="173F4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17043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7452360" y="1170432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overbooked in the 10-client race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4023360" cy="2011680"/>
          </a:xfrm>
          <a:prstGeom prst="roundRect">
            <a:avLst>
              <a:gd name="adj" fmla="val 3636"/>
            </a:avLst>
          </a:prstGeom>
          <a:solidFill>
            <a:srgbClr val="173F4E"/>
          </a:solidFill>
          <a:ln w="12700">
            <a:solidFill>
              <a:srgbClr val="173F4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6243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29260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-e 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scripts/run_all_demo.py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or manually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run_llm_server.py --port 50052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run_server.py --port 50051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demo_concurrency.py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63440" y="2514600"/>
            <a:ext cx="4023360" cy="2011680"/>
          </a:xfrm>
          <a:prstGeom prst="roundRect">
            <a:avLst>
              <a:gd name="adj" fmla="val 3636"/>
            </a:avLst>
          </a:prstGeom>
          <a:solidFill>
            <a:srgbClr val="173F4E"/>
          </a:solidFill>
          <a:ln w="12700">
            <a:solidFill>
              <a:srgbClr val="173F4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46320" y="26243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 · DUE 18 NOV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29260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Raft leader election and log replication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state replicated to 3 app nodes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Kill-leader recovery demo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mock auth, in-memory-only state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2026-09-29T13:35:57Z</dcterms:created>
  <dcterms:modified xsi:type="dcterms:W3CDTF">2026-09-29T13:35:57Z</dcterms:modified>
</cp:coreProperties>
</file>